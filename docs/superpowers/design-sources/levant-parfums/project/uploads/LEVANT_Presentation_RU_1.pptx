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6"/>
    <p:sldId id="281" r:id="rId27"/>
    <p:sldId id="282" r:id="rId28"/>
    <p:sldId id="259" r:id="rId5"/>
    <p:sldId id="267" r:id="rId13"/>
    <p:sldId id="268" r:id="rId14"/>
    <p:sldId id="269" r:id="rId15"/>
    <p:sldId id="278" r:id="rId24"/>
    <p:sldId id="279" r:id="rId25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22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23.xml"/><Relationship Id="rId14" Type="http://schemas.openxmlformats.org/officeDocument/2006/relationships/slide" Target="slides/slide24.xml"/><Relationship Id="rId15" Type="http://schemas.openxmlformats.org/officeDocument/2006/relationships/slide" Target="slides/slide25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6949440" y="-822960"/>
            <a:ext cx="54864" cy="7772400"/>
          </a:xfrm>
          <a:prstGeom prst="rect">
            <a:avLst/>
          </a:prstGeom>
          <a:solidFill>
            <a:srgbClr val="C9A84C">
              <a:alpha val="3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1080000">
            <a:off x="7333488" y="-822960"/>
            <a:ext cx="54864" cy="7772400"/>
          </a:xfrm>
          <a:prstGeom prst="rect">
            <a:avLst/>
          </a:prstGeom>
          <a:solidFill>
            <a:srgbClr val="C9A84C">
              <a:alpha val="27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">
            <a:off x="7717536" y="-822960"/>
            <a:ext cx="54864" cy="7772400"/>
          </a:xfrm>
          <a:prstGeom prst="rect">
            <a:avLst/>
          </a:prstGeom>
          <a:solidFill>
            <a:srgbClr val="C9A84C">
              <a:alpha val="2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1080000">
            <a:off x="8101584" y="-822960"/>
            <a:ext cx="54864" cy="7772400"/>
          </a:xfrm>
          <a:prstGeom prst="rect">
            <a:avLst/>
          </a:prstGeom>
          <a:solidFill>
            <a:srgbClr val="C9A84C">
              <a:alpha val="17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1080000">
            <a:off x="8485632" y="-822960"/>
            <a:ext cx="54864" cy="7772400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0" y="13258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spc="2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</a:t>
            </a:r>
            <a:endParaRPr lang="en-US" sz="7800" dirty="0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25603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spc="5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eau de parfum · 50 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4805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ОПТОВАЯ ПРЕЗЕНТАЦИЯ ДЛЯ ДИСТРИБЬЮТОРОВ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54864" cy="4114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594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БРЕНДЕ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85039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 — пересечение трёх миров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 — древнее название региона, где встречаются Восток и Запад, где торговля, культура и ароматы находили друг друга тысячелетиями.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родилась в Испании. Флаконы разливаются в Турции. Сердце рынка — Украина. Три точки. Один подпис.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804672"/>
            <a:ext cx="2514600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E85D0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896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ИСПАНИЯ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325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Рождение идеи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93392"/>
            <a:ext cx="2514600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0" y="20848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ТУРЦИЯ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514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Разливается здесь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182112"/>
            <a:ext cx="2514600" cy="1005840"/>
          </a:xfrm>
          <a:prstGeom prst="rect">
            <a:avLst/>
          </a:prstGeom>
          <a:solidFill>
            <a:srgbClr val="0F1A2E"/>
          </a:solidFill>
          <a:ln w="19050">
            <a:solidFill>
              <a:srgbClr val="48CA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3273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УКРАИНА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и душа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-914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ФИЛОСОФИЯ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Нишевый аромат.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Честная цена.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5786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вам нужно имя и красивая коробка — вам в дьюти-фри. Мы же для тех, кто хочет аромат, а не бирку.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257860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лет в парфюмерии дают нам знать, где покупать лучшие ингредиенты — и мы это делаем. Разработано в Испании. Разлито в Турции. Без переплаты за логотип.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5C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аромата  ·  2 коллекции  ·  50 мл EDP  ·  Разработано в Испании · Разлито в Турции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91440"/>
            <a:ext cx="393192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89611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90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700784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spc="10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395728"/>
            <a:ext cx="21945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4203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лёгкого флорального шёпота до насыщенной нишевой глубины.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охватывает весь спектр: свежие цитрусовые открытия, бархатные цветочные сердца и древесно-мускусные базы. Для женщины, которая знает, чего хочет.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36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ароматов  ·  Женская и унисекс  ·  NISHE &amp; DESINER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548640"/>
            <a:ext cx="3840480" cy="3840480"/>
          </a:xfrm>
          <a:prstGeom prst="ellipse">
            <a:avLst/>
          </a:prstGeom>
          <a:solidFill>
            <a:srgbClr val="FFB347">
              <a:alpha val="45000"/>
            </a:srgbClr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FF6B8A">
              <a:alpha val="40000"/>
            </a:srgbClr>
          </a:solidFill>
          <a:ln w="12700">
            <a:solidFill>
              <a:srgbClr val="FF6B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223760" y="-274320"/>
            <a:ext cx="2103120" cy="210312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280160"/>
            <a:ext cx="2103120" cy="2103120"/>
          </a:xfrm>
          <a:prstGeom prst="ellipse">
            <a:avLst/>
          </a:prstGeom>
          <a:solidFill>
            <a:srgbClr val="FFE0B2">
              <a:alpha val="35000"/>
            </a:srgbClr>
          </a:solidFill>
          <a:ln w="12700">
            <a:solidFill>
              <a:srgbClr val="FFE0B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Kirkè — Tiziana Terenzi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Тропический коктейль во флаконе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ярким взрывом фруктов — маракуйя, персик, малина. Деликатный ландыш в сердце добавляет лёгкости. База из мускуса и сандала оставляет тёплый шлейф на коже часами.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Маракуйя, персик,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малина, груша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Ландыш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сандал,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ваниль, пачули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B8860B">
              <a:alpha val="12000"/>
            </a:srgbClr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лето, вечеринки, молодая аудитория, первое свидание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знает Kirkè — цена останавливала. LEVANT даёт тот же характер.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-640080"/>
            <a:ext cx="4572000" cy="4572000"/>
          </a:xfrm>
          <a:prstGeom prst="ellipse">
            <a:avLst/>
          </a:prstGeom>
          <a:solidFill>
            <a:srgbClr val="8B1A00">
              <a:alpha val="40000"/>
            </a:srgbClr>
          </a:solidFill>
          <a:ln w="12700">
            <a:solidFill>
              <a:srgbClr val="8B1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943600" y="548640"/>
            <a:ext cx="3017520" cy="3017520"/>
          </a:xfrm>
          <a:prstGeom prst="ellipse">
            <a:avLst/>
          </a:prstGeom>
          <a:solidFill>
            <a:srgbClr val="C9861A">
              <a:alpha val="45000"/>
            </a:srgbClr>
          </a:solidFill>
          <a:ln w="12700">
            <a:solidFill>
              <a:srgbClr val="C986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223760" y="-182880"/>
            <a:ext cx="2103120" cy="2103120"/>
          </a:xfrm>
          <a:prstGeom prst="ellipse">
            <a:avLst/>
          </a:prstGeom>
          <a:solidFill>
            <a:srgbClr val="FFD700">
              <a:alpha val="30000"/>
            </a:srgbClr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0" y="1463040"/>
            <a:ext cx="2743200" cy="2743200"/>
          </a:xfrm>
          <a:prstGeom prst="ellipse">
            <a:avLst/>
          </a:prstGeom>
          <a:solidFill>
            <a:srgbClr val="3D0000">
              <a:alpha val="28000"/>
            </a:srgbClr>
          </a:solidFill>
          <a:ln w="12700">
            <a:solidFill>
              <a:srgbClr val="3D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Baccarat Rouge 540 — Maison Francis Kurkdjian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Алхимия кристалла и огня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C9861A"/>
          </a:solidFill>
          <a:ln w="12700">
            <a:solidFill>
              <a:srgbClr val="C986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узнаваемый нишевый аромат десятилетия. Шафран и жасмин открываются, амбровая база остаётся на коже часами. Флагман LEVANT — аромат, который продаёт себя сам.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C9861A">
              <a:alpha val="40000"/>
            </a:srgbClr>
          </a:solidFill>
          <a:ln w="12700">
            <a:solidFill>
              <a:srgbClr val="C986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Жасмин, шафран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Горький миндаль,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кедр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мускус,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B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древесные ноты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C9861A">
              <a:alpha val="12000"/>
            </a:srgbClr>
          </a:solidFill>
          <a:ln w="12700">
            <a:solidFill>
              <a:srgbClr val="C986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деловые встречи, вечер, подарок, клиенты-знатоки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 — $350+. LEVANT даёт тот же подпис по доступной цене.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931920" cy="3931920"/>
          </a:xfrm>
          <a:prstGeom prst="ellipse">
            <a:avLst/>
          </a:prstGeom>
          <a:solidFill>
            <a:srgbClr val="1A6B44">
              <a:alpha val="45000"/>
            </a:srgbClr>
          </a:solidFill>
          <a:ln w="12700">
            <a:solidFill>
              <a:srgbClr val="1A6B4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365760"/>
            <a:ext cx="2651760" cy="2651760"/>
          </a:xfrm>
          <a:prstGeom prst="ellipse">
            <a:avLst/>
          </a:prstGeom>
          <a:solidFill>
            <a:srgbClr val="7FBE9E">
              <a:alpha val="40000"/>
            </a:srgbClr>
          </a:solidFill>
          <a:ln w="12700">
            <a:solidFill>
              <a:srgbClr val="7FBE9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0" y="-457200"/>
            <a:ext cx="2103120" cy="2103120"/>
          </a:xfrm>
          <a:prstGeom prst="ellipse">
            <a:avLst/>
          </a:prstGeom>
          <a:solidFill>
            <a:srgbClr val="FFE066">
              <a:alpha val="35000"/>
            </a:srgbClr>
          </a:solidFill>
          <a:ln w="12700">
            <a:solidFill>
              <a:srgbClr val="FFE06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554480"/>
            <a:ext cx="2377440" cy="2377440"/>
          </a:xfrm>
          <a:prstGeom prst="ellipse">
            <a:avLst/>
          </a:prstGeom>
          <a:solidFill>
            <a:srgbClr val="2E5D3C">
              <a:alpha val="30000"/>
            </a:srgbClr>
          </a:solidFill>
          <a:ln w="12700">
            <a:solidFill>
              <a:srgbClr val="2E5D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3C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3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C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Bal d’Afrique — Byredo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Африканское утро в Париже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3CAF7E"/>
          </a:solidFill>
          <a:ln w="12700">
            <a:solidFill>
              <a:srgbClr val="3CAF7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Свежий и земляной одновременно. Цитрусово-цветочное открытие переходит в зелёную сердцевину и оседает тёплым ветиверным шлейфом. Идеальный унисекс.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3CAF7E">
              <a:alpha val="40000"/>
            </a:srgbClr>
          </a:solidFill>
          <a:ln w="12700">
            <a:solidFill>
              <a:srgbClr val="3CAF7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C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Бергамот, лимон,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ноготок, нероль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C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Фиалка, цикламен,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CA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Ветивер, кедр,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мускус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3CAF7E">
              <a:alpha val="12000"/>
            </a:srgbClr>
          </a:solidFill>
          <a:ln w="12700">
            <a:solidFill>
              <a:srgbClr val="3CAF7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весна/лето, дневной офис, минималистичный клиент, ценители Byredo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Продаётся тем, кто говорит “не ношу духи” — и оставляет их в восторге.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365760"/>
            <a:ext cx="3657600" cy="3657600"/>
          </a:xfrm>
          <a:prstGeom prst="ellipse">
            <a:avLst/>
          </a:prstGeom>
          <a:solidFill>
            <a:srgbClr val="E8A0B4">
              <a:alpha val="45000"/>
            </a:srgbClr>
          </a:solidFill>
          <a:ln w="12700">
            <a:solidFill>
              <a:srgbClr val="E8A0B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309360" y="457200"/>
            <a:ext cx="2468880" cy="2468880"/>
          </a:xfrm>
          <a:prstGeom prst="ellipse">
            <a:avLst/>
          </a:prstGeom>
          <a:solidFill>
            <a:srgbClr val="D4637A">
              <a:alpha val="40000"/>
            </a:srgbClr>
          </a:solidFill>
          <a:ln w="12700">
            <a:solidFill>
              <a:srgbClr val="D463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F5C8D0">
              <a:alpha val="35000"/>
            </a:srgbClr>
          </a:solidFill>
          <a:ln w="12700">
            <a:solidFill>
              <a:srgbClr val="F5C8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0" y="1371600"/>
            <a:ext cx="2011680" cy="2011680"/>
          </a:xfrm>
          <a:prstGeom prst="ellipse">
            <a:avLst/>
          </a:prstGeom>
          <a:solidFill>
            <a:srgbClr val="C0A0B0">
              <a:alpha val="30000"/>
            </a:srgbClr>
          </a:solidFill>
          <a:ln w="12700">
            <a:solidFill>
              <a:srgbClr val="C0A0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0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4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0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Fleur Narcotique — Ex Nihilo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Флоральный наркотик в капле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C08497"/>
          </a:solidFill>
          <a:ln w="12700">
            <a:solidFill>
              <a:srgbClr val="C0849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 и личи открываются свежестью. Сердце пиона и жасмина — очарованное, парижское, готовое выходить. Воздушное, но неотступно притягивающее.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C08497">
              <a:alpha val="40000"/>
            </a:srgbClr>
          </a:solidFill>
          <a:ln w="12700">
            <a:solidFill>
              <a:srgbClr val="C084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0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Личи, бергамот,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0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Пион,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апельсин, жасмин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0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мох,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древесные ноты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C08497">
              <a:alpha val="12000"/>
            </a:srgbClr>
          </a:solidFill>
          <a:ln w="12700">
            <a:solidFill>
              <a:srgbClr val="C0849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весна, бранч-дейт, молодые женщины, романтический вечер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Продаётся без усилий: люди знают Ex Nihilo — цена останавливала, LEVANT — нет.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7A4E99">
              <a:alpha val="45000"/>
            </a:srgbClr>
          </a:solidFill>
          <a:ln w="12700">
            <a:solidFill>
              <a:srgbClr val="7A4E9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B08CC0">
              <a:alpha val="40000"/>
            </a:srgbClr>
          </a:solidFill>
          <a:ln w="12700">
            <a:solidFill>
              <a:srgbClr val="B08C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E0C8F0">
              <a:alpha val="35000"/>
            </a:srgbClr>
          </a:solidFill>
          <a:ln w="12700">
            <a:solidFill>
              <a:srgbClr val="E0C8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463040"/>
            <a:ext cx="2194560" cy="2194560"/>
          </a:xfrm>
          <a:prstGeom prst="ellipse">
            <a:avLst/>
          </a:prstGeom>
          <a:solidFill>
            <a:srgbClr val="4A2A6A">
              <a:alpha val="30000"/>
            </a:srgbClr>
          </a:solidFill>
          <a:ln w="12700">
            <a:solidFill>
              <a:srgbClr val="4A2A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B7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0E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7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Libre — Yves Saint Laurent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0E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Свобода в волне лаванды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9B72AA"/>
          </a:solidFill>
          <a:ln w="12700">
            <a:solidFill>
              <a:srgbClr val="9B72A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лаванды с тёплым ванильным сердцем — это и есть Libre. Дерзкий, интригующий, непохожий ни на что, но узнаётся сразу. Унисекс, который чаще носят женщины.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9B72AA">
              <a:alpha val="40000"/>
            </a:srgbClr>
          </a:solidFill>
          <a:ln w="12700">
            <a:solidFill>
              <a:srgbClr val="9B72A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7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Лаванда, мандарин,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апельсин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7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 мускус,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ваниль, жасмин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7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Кедр, амбра,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пачули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9B72AA">
              <a:alpha val="12000"/>
            </a:srgbClr>
          </a:solidFill>
          <a:ln w="12700">
            <a:solidFill>
              <a:srgbClr val="9B72A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событие, весна/осень, сильная женщина, ценители YSL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бренд с известным ароматом — идеальный вход в нишевую парфюмерию без ежедневной цены.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9B1A5A">
              <a:alpha val="42000"/>
            </a:srgbClr>
          </a:solidFill>
          <a:ln w="12700">
            <a:solidFill>
              <a:srgbClr val="9B1A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C45B8B">
              <a:alpha val="45000"/>
            </a:srgbClr>
          </a:solidFill>
          <a:ln w="12700">
            <a:solidFill>
              <a:srgbClr val="C45B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-274320"/>
            <a:ext cx="2194560" cy="2194560"/>
          </a:xfrm>
          <a:prstGeom prst="ellipse">
            <a:avLst/>
          </a:prstGeom>
          <a:solidFill>
            <a:srgbClr val="5A0A30">
              <a:alpha val="30000"/>
            </a:srgbClr>
          </a:solidFill>
          <a:ln w="12700">
            <a:solidFill>
              <a:srgbClr val="5A0A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103120" cy="2103120"/>
          </a:xfrm>
          <a:prstGeom prst="ellipse">
            <a:avLst/>
          </a:prstGeom>
          <a:solidFill>
            <a:srgbClr val="E0A0C0">
              <a:alpha val="32000"/>
            </a:srgbClr>
          </a:solidFill>
          <a:ln w="12700">
            <a:solidFill>
              <a:srgbClr val="E0A0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45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E0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6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45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Good Girl — Carolina Herrera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E0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Плохая девочка. Нежная душа.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C45B8B"/>
          </a:solidFill>
          <a:ln w="12700">
            <a:solidFill>
              <a:srgbClr val="C45B8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Кофейное открытие с ноткой туберозы и жасмина. Сердце тёплой тонки и шоколадный бархат делают этот аромат незабываемым. Бомба на любой вечер.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C45B8B">
              <a:alpha val="40000"/>
            </a:srgbClr>
          </a:solidFill>
          <a:ln w="12700">
            <a:solidFill>
              <a:srgbClr val="C45B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5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Кофе, миндаль,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тубероза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5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 боб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5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Сандал, какао,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C45B8B">
              <a:alpha val="12000"/>
            </a:srgbClr>
          </a:solidFill>
          <a:ln w="12700">
            <a:solidFill>
              <a:srgbClr val="C45B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вечернее событие, осень-зима, подарок, клиентки с характером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Узнают сразу — сравнивают с Good Girl. LEVANT даёт это ощущение без ярлыка за пустой флакон.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7A4E99">
              <a:alpha val="45000"/>
            </a:srgbClr>
          </a:solidFill>
          <a:ln w="12700">
            <a:solidFill>
              <a:srgbClr val="7A4E9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B088CC">
              <a:alpha val="40000"/>
            </a:srgbClr>
          </a:solidFill>
          <a:ln w="12700">
            <a:solidFill>
              <a:srgbClr val="B088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F0D8FF">
              <a:alpha val="35000"/>
            </a:srgbClr>
          </a:solidFill>
          <a:ln w="12700">
            <a:solidFill>
              <a:srgbClr val="F0D8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011680" cy="2011680"/>
          </a:xfrm>
          <a:prstGeom prst="ellipse">
            <a:avLst/>
          </a:prstGeom>
          <a:solidFill>
            <a:srgbClr val="E8B8E8">
              <a:alpha val="35000"/>
            </a:srgbClr>
          </a:solidFill>
          <a:ln w="12700">
            <a:solidFill>
              <a:srgbClr val="E8B8E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E6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7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E6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La Vie Est Belle — Lancôme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Красота жизни, записанная ароматом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8E6BAB"/>
          </a:solidFill>
          <a:ln w="12700">
            <a:solidFill>
              <a:srgbClr val="8E6BA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Ирис, чёрная смородина и пралине. Этот аромат стал знаковым в массовом сегменте благодаря тёплому гурманному характеру. Гарантированный комплимент.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8E6BAB">
              <a:alpha val="40000"/>
            </a:srgbClr>
          </a:solidFill>
          <a:ln w="12700">
            <a:solidFill>
              <a:srgbClr val="8E6BA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E6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Ирис, чёрная смородина,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груша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E6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апельсин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E6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Пралине, пачули,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ваниль, мускус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8E6BAB">
              <a:alpha val="12000"/>
            </a:srgbClr>
          </a:solidFill>
          <a:ln w="12700">
            <a:solidFill>
              <a:srgbClr val="8E6BA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круглогодичные продажи, подарок, широкая аудитория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самых кассовых ароматов Lancôme — понятный выбор для любого магазина.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0D5A3A">
              <a:alpha val="45000"/>
            </a:srgbClr>
          </a:solidFill>
          <a:ln w="12700">
            <a:solidFill>
              <a:srgbClr val="0D5A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3DAF8A">
              <a:alpha val="42000"/>
            </a:srgbClr>
          </a:solidFill>
          <a:ln w="12700">
            <a:solidFill>
              <a:srgbClr val="3DA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A0E8C8">
              <a:alpha val="35000"/>
            </a:srgbClr>
          </a:solidFill>
          <a:ln w="12700">
            <a:solidFill>
              <a:srgbClr val="A0E8C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103120" cy="2103120"/>
          </a:xfrm>
          <a:prstGeom prst="ellipse">
            <a:avLst/>
          </a:prstGeom>
          <a:solidFill>
            <a:srgbClr val="005530">
              <a:alpha val="30000"/>
            </a:srgbClr>
          </a:solidFill>
          <a:ln w="12700">
            <a:solidFill>
              <a:srgbClr val="0055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3D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0F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8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Aqua Media Cologne Forte — Maison Francis Kurkdjian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F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Свежесть зелёного прибоя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3DAF8A"/>
          </a:solidFill>
          <a:ln w="12700">
            <a:solidFill>
              <a:srgbClr val="3DAF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Бергамот, вербена и фенхель — эти три ноты создают одну из самых свежих композиций MFK. База из матча добавляет глубину. Идеален для дня.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3DAF8A">
              <a:alpha val="40000"/>
            </a:srgbClr>
          </a:solidFill>
          <a:ln w="12700">
            <a:solidFill>
              <a:srgbClr val="3DA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D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Вербена,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D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Фенхель,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зелёная свежесть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D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Матча зелёного чая,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древесные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3DAF8A">
              <a:alpha val="12000"/>
            </a:srgbClr>
          </a:solidFill>
          <a:ln w="12700">
            <a:solidFill>
              <a:srgbClr val="3DA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0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офис, лето, унисекс, ценители MFK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0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Фреш MFK нового поколения — продаётся первому, кто слышал оригинал.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8B1A00">
              <a:alpha val="40000"/>
            </a:srgbClr>
          </a:solidFill>
          <a:ln w="12700">
            <a:solidFill>
              <a:srgbClr val="8B1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548640"/>
            <a:ext cx="2651760" cy="2651760"/>
          </a:xfrm>
          <a:prstGeom prst="ellipse">
            <a:avLst/>
          </a:prstGeom>
          <a:solidFill>
            <a:srgbClr val="A0522D">
              <a:alpha val="45000"/>
            </a:srgbClr>
          </a:solidFill>
          <a:ln w="12700">
            <a:solidFill>
              <a:srgbClr val="A0522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011680" cy="2011680"/>
          </a:xfrm>
          <a:prstGeom prst="ellipse">
            <a:avLst/>
          </a:prstGeom>
          <a:solidFill>
            <a:srgbClr val="D08050">
              <a:alpha val="32000"/>
            </a:srgbClr>
          </a:solidFill>
          <a:ln w="12700">
            <a:solidFill>
              <a:srgbClr val="D0805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500A00">
              <a:alpha val="28000"/>
            </a:srgbClr>
          </a:solidFill>
          <a:ln w="12700">
            <a:solidFill>
              <a:srgbClr val="500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9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Arabians Tonka — Montale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Специя Шёлкового пути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 разжигает огонь. Сердце уда и розы даёт восточную роскошь и драматизм. Тонка боб в базе делает аромат обволакивающим и стойким.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A0522D">
              <a:alpha val="40000"/>
            </a:srgbClr>
          </a:solidFill>
          <a:ln w="12700">
            <a:solidFill>
              <a:srgbClr val="A0522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Шафран, бергамот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Уд, роза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 боб,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мускус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A0522D">
              <a:alpha val="12000"/>
            </a:srgbClr>
          </a:solidFill>
          <a:ln w="12700">
            <a:solidFill>
              <a:srgbClr val="A0522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F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вечер, осень-зима, ценители восточных ароматов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F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Нишевый имидж Montale и традиция — продаётся без объяснений.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657600" cy="3657600"/>
          </a:xfrm>
          <a:prstGeom prst="ellipse">
            <a:avLst/>
          </a:prstGeom>
          <a:solidFill>
            <a:srgbClr val="C8B090">
              <a:alpha val="45000"/>
            </a:srgbClr>
          </a:solidFill>
          <a:ln w="12700">
            <a:solidFill>
              <a:srgbClr val="C8B09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468880" cy="2468880"/>
          </a:xfrm>
          <a:prstGeom prst="ellipse">
            <a:avLst/>
          </a:prstGeom>
          <a:solidFill>
            <a:srgbClr val="A89070">
              <a:alpha val="40000"/>
            </a:srgbClr>
          </a:solidFill>
          <a:ln w="12700">
            <a:solidFill>
              <a:srgbClr val="A8907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-274320"/>
            <a:ext cx="1920240" cy="1920240"/>
          </a:xfrm>
          <a:prstGeom prst="ellipse">
            <a:avLst/>
          </a:prstGeom>
          <a:solidFill>
            <a:srgbClr val="E8D8C0">
              <a:alpha val="35000"/>
            </a:srgbClr>
          </a:solidFill>
          <a:ln w="12700">
            <a:solidFill>
              <a:srgbClr val="E8D8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011680" cy="2011680"/>
          </a:xfrm>
          <a:prstGeom prst="ellipse">
            <a:avLst/>
          </a:prstGeom>
          <a:solidFill>
            <a:srgbClr val="806840">
              <a:alpha val="32000"/>
            </a:srgbClr>
          </a:solidFill>
          <a:ln w="12700">
            <a:solidFill>
              <a:srgbClr val="80684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10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Patchouli Blanc — Van Cleef &amp; Arpels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Пачули — перерождённый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Знакомая нота в новом звучании. Розовый перец и роза смягчают пачули. Чистый финал на белом мускусе. Унисекс для всех сезонов.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8B7355">
              <a:alpha val="40000"/>
            </a:srgbClr>
          </a:solidFill>
          <a:ln w="12700">
            <a:solidFill>
              <a:srgbClr val="8B73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Альдегиды,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розовый перец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Пачули,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 мускус,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кашемировое дерево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8B7355">
              <a:alpha val="12000"/>
            </a:srgbClr>
          </a:solidFill>
          <a:ln w="12700">
            <a:solidFill>
              <a:srgbClr val="8B73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повод, офис, минималистичный стиль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Нишевый ориентир без лишнего — выигрывает на фоне конкурентов.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0A2A6A">
              <a:alpha val="45000"/>
            </a:srgbClr>
          </a:solidFill>
          <a:ln w="12700">
            <a:solidFill>
              <a:srgbClr val="0A2A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4A7EC7">
              <a:alpha val="42000"/>
            </a:srgbClr>
          </a:solidFill>
          <a:ln w="12700">
            <a:solidFill>
              <a:srgbClr val="4A7E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90C0F0">
              <a:alpha val="35000"/>
            </a:srgbClr>
          </a:solidFill>
          <a:ln w="12700">
            <a:solidFill>
              <a:srgbClr val="90C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011680" cy="2011680"/>
          </a:xfrm>
          <a:prstGeom prst="ellipse">
            <a:avLst/>
          </a:prstGeom>
          <a:solidFill>
            <a:srgbClr val="A0D0A0">
              <a:alpha val="30000"/>
            </a:srgbClr>
          </a:solidFill>
          <a:ln w="12700">
            <a:solidFill>
              <a:srgbClr val="A0D0A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4A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Blue Talisman — Ex Nihilo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Синий талисман счастья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4A7EC7"/>
          </a:solidFill>
          <a:ln w="12700">
            <a:solidFill>
              <a:srgbClr val="4A7EC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Груша и цитрус открываются легко и гармонично. Уникальная космическая свежесть оседает на коже стойким мускусом. Один из самых комплиментарных ароматов среди знатоков.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4A7EC7">
              <a:alpha val="40000"/>
            </a:srgbClr>
          </a:solidFill>
          <a:ln w="12700">
            <a:solidFill>
              <a:srgbClr val="4A7E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Груша, бергамот,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мандарин, имбирь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Апельсин, мускус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амброфикс,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кедр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4A7EC7">
              <a:alpha val="12000"/>
            </a:srgbClr>
          </a:solidFill>
          <a:ln w="12700">
            <a:solidFill>
              <a:srgbClr val="4A7E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событие, унисекс, машина комплиментов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Продающий аргумент в одном слове: комплименты гарантированы.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8B5A00">
              <a:alpha val="42000"/>
            </a:srgbClr>
          </a:solidFill>
          <a:ln w="12700">
            <a:solidFill>
              <a:srgbClr val="8B5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C4A84A">
              <a:alpha val="45000"/>
            </a:srgbClr>
          </a:solidFill>
          <a:ln w="12700">
            <a:solidFill>
              <a:srgbClr val="C4A8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103120" cy="2103120"/>
          </a:xfrm>
          <a:prstGeom prst="ellipse">
            <a:avLst/>
          </a:prstGeom>
          <a:solidFill>
            <a:srgbClr val="FFD080">
              <a:alpha val="32000"/>
            </a:srgbClr>
          </a:solidFill>
          <a:ln w="12700">
            <a:solidFill>
              <a:srgbClr val="FFD08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5A1A00">
              <a:alpha val="28000"/>
            </a:srgbClr>
          </a:solidFill>
          <a:ln w="12700">
            <a:solidFill>
              <a:srgbClr val="5A1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Guidance — Amouage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Проводник сквозь сад ощущений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C4A84A"/>
          </a:solidFill>
          <a:ln w="12700">
            <a:solidFill>
              <a:srgbClr val="C4A8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Груша и миндаль — воздушное открытие. Сердце розы, османтуса и шафрана — это Amouage на пике своих возможностей. Бескомпромиссная роскошь и стойкость.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C4A84A">
              <a:alpha val="40000"/>
            </a:srgbClr>
          </a:solidFill>
          <a:ln w="12700">
            <a:solidFill>
              <a:srgbClr val="C4A8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Груша, фундук,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ладан, инжир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Османтус, роза,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шафран, жасмин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Сандал, ваниль,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лабданум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C4A84A">
              <a:alpha val="12000"/>
            </a:srgbClr>
          </a:solidFill>
          <a:ln w="12700">
            <a:solidFill>
              <a:srgbClr val="C4A8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осень-зима, вечернее событие, коллекционер, статусный подарок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Amouage — знак качества. LEVANT даёт это ощущение без переплаты за бренд.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1A4A28">
              <a:alpha val="45000"/>
            </a:srgbClr>
          </a:solidFill>
          <a:ln w="12700">
            <a:solidFill>
              <a:srgbClr val="1A4A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5C8A64">
              <a:alpha val="42000"/>
            </a:srgbClr>
          </a:solidFill>
          <a:ln w="12700">
            <a:solidFill>
              <a:srgbClr val="5C8A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A0D0A8">
              <a:alpha val="35000"/>
            </a:srgbClr>
          </a:solidFill>
          <a:ln w="12700">
            <a:solidFill>
              <a:srgbClr val="A0D0A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103120" cy="2103120"/>
          </a:xfrm>
          <a:prstGeom prst="ellipse">
            <a:avLst/>
          </a:prstGeom>
          <a:solidFill>
            <a:srgbClr val="0A2A18">
              <a:alpha val="30000"/>
            </a:srgbClr>
          </a:solidFill>
          <a:ln w="12700">
            <a:solidFill>
              <a:srgbClr val="0A2A1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C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0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13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Kenzo Homme — Kenzo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Древесная свежесть городского утра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5C8A64"/>
          </a:solidFill>
          <a:ln w="12700">
            <a:solidFill>
              <a:srgbClr val="5C8A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Ароматическое древесное сердце Kenzo Homme с цитрусовым открытием. Табачно-древесная сердцевина с базой ветивера. Надёжный, ненавязчивый, всесезонный.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5C8A64">
              <a:alpha val="40000"/>
            </a:srgbClr>
          </a:solidFill>
          <a:ln w="12700">
            <a:solidFill>
              <a:srgbClr val="5C8A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C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грейпфрут, нероль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C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Табак, кедр,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лаванда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C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Ветивер, дубовый мох,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 боб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5C8A64">
              <a:alpha val="12000"/>
            </a:srgbClr>
          </a:solidFill>
          <a:ln w="12700">
            <a:solidFill>
              <a:srgbClr val="5C8A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0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ежедневная носка, офис, город, подарок мужчине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0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Доступный вход в мир Kenzo. Бренд знают все.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-457200"/>
            <a:ext cx="3840480" cy="3840480"/>
          </a:xfrm>
          <a:prstGeom prst="ellipse">
            <a:avLst/>
          </a:prstGeom>
          <a:solidFill>
            <a:srgbClr val="F09020">
              <a:alpha val="45000"/>
            </a:srgbClr>
          </a:solidFill>
          <a:ln w="12700">
            <a:solidFill>
              <a:srgbClr val="F09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468880" cy="2468880"/>
          </a:xfrm>
          <a:prstGeom prst="ellipse">
            <a:avLst/>
          </a:prstGeom>
          <a:solidFill>
            <a:srgbClr val="F8C870">
              <a:alpha val="40000"/>
            </a:srgbClr>
          </a:solidFill>
          <a:ln w="12700">
            <a:solidFill>
              <a:srgbClr val="F8C87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-274320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0" y="1371600"/>
            <a:ext cx="2011680" cy="2011680"/>
          </a:xfrm>
          <a:prstGeom prst="ellipse">
            <a:avLst/>
          </a:prstGeom>
          <a:solidFill>
            <a:srgbClr val="A04010">
              <a:alpha val="32000"/>
            </a:srgbClr>
          </a:solidFill>
          <a:ln w="12700">
            <a:solidFill>
              <a:srgbClr val="A0401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14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Orange Blossom — Jo Malone London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Флёрдоранж на щеке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Лёгкое, яркое, настоящее. Клементин открывает, апельсин усиливает. Нежная мускусно-древесная база оставляет след в течение дня.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E06B1A">
              <a:alpha val="40000"/>
            </a:srgbClr>
          </a:solidFill>
          <a:ln w="12700">
            <a:solidFill>
              <a:srgbClr val="E06B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Клементин,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апельсин, гиацинт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 апельсина,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цветочные ноты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нежные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древесные ноты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E06B1A">
              <a:alpha val="12000"/>
            </a:srgbClr>
          </a:solidFill>
          <a:ln w="12700">
            <a:solidFill>
              <a:srgbClr val="E06B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лето, весна, утро, любое событие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Сигнатурный аромат Jo Malone — известный бренд, доступная цена.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7A3A00">
              <a:alpha val="40000"/>
            </a:srgbClr>
          </a:solidFill>
          <a:ln w="12700">
            <a:solidFill>
              <a:srgbClr val="7A3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B87333">
              <a:alpha val="45000"/>
            </a:srgbClr>
          </a:solidFill>
          <a:ln w="12700">
            <a:solidFill>
              <a:srgbClr val="B87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103120" cy="2103120"/>
          </a:xfrm>
          <a:prstGeom prst="ellipse">
            <a:avLst/>
          </a:prstGeom>
          <a:solidFill>
            <a:srgbClr val="E0A060">
              <a:alpha val="32000"/>
            </a:srgbClr>
          </a:solidFill>
          <a:ln w="12700">
            <a:solidFill>
              <a:srgbClr val="E0A06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3A1000">
              <a:alpha val="28000"/>
            </a:srgbClr>
          </a:solidFill>
          <a:ln w="12700">
            <a:solidFill>
              <a:srgbClr val="3A1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Angels’ Share — By Kilian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Доля ангелов — в твоём стакане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Вдохновение коньяка и корица разжигают. Сердце пралине с ореховым оттенком. Ванильная карамельная база готова оставаться вечер за вечером.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B87333">
              <a:alpha val="40000"/>
            </a:srgbClr>
          </a:solidFill>
          <a:ln w="12700">
            <a:solidFill>
              <a:srgbClr val="B87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Коньяк, ром,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корица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Пралине, ореховое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Ваниль, тонка боб,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карамель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B87333">
              <a:alpha val="12000"/>
            </a:srgbClr>
          </a:solidFill>
          <a:ln w="12700">
            <a:solidFill>
              <a:srgbClr val="B87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осень-зима, вечерние события, подарок-хит, коллекционер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Kilian имеет лояльную аудиторию. LEVANT предоставляет этот опыт по правильной цене.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5A4000">
              <a:alpha val="40000"/>
            </a:srgbClr>
          </a:solidFill>
          <a:ln w="12700">
            <a:solidFill>
              <a:srgbClr val="5A4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8B6914">
              <a:alpha val="45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103120" cy="2103120"/>
          </a:xfrm>
          <a:prstGeom prst="ellipse">
            <a:avLst/>
          </a:prstGeom>
          <a:solidFill>
            <a:srgbClr val="C8A850">
              <a:alpha val="32000"/>
            </a:srgbClr>
          </a:solidFill>
          <a:ln w="12700">
            <a:solidFill>
              <a:srgbClr val="C8A85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2A1800">
              <a:alpha val="28000"/>
            </a:srgbClr>
          </a:solidFill>
          <a:ln w="12700">
            <a:solidFill>
              <a:srgbClr val="2A18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5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16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Old Fashioned — By Kilian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Старомодный. В лучшем смысле.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Вдохновлён виски 18-летней выдержки. Пшеница и давана открываются, кедр и иммортель в сердце. Тёплая смолистая бочка и долгие вечерние шлейфы.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8B6914">
              <a:alpha val="40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Пшеница, давана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Кедр,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иммортель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Стиракс,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толубальзам, дуб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8B6914">
              <a:alpha val="12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осень-зима, вечер, подарок конноссёру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Редкий By Kilian с виски-аккордом — аргумент для любого бутика.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8B0032">
              <a:alpha val="42000"/>
            </a:srgbClr>
          </a:solidFill>
          <a:ln w="12700">
            <a:solidFill>
              <a:srgbClr val="8B00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CC2060">
              <a:alpha val="45000"/>
            </a:srgbClr>
          </a:solidFill>
          <a:ln w="12700">
            <a:solidFill>
              <a:srgbClr val="CC206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103120" cy="2103120"/>
          </a:xfrm>
          <a:prstGeom prst="ellipse">
            <a:avLst/>
          </a:prstGeom>
          <a:solidFill>
            <a:srgbClr val="F090B0">
              <a:alpha val="32000"/>
            </a:srgbClr>
          </a:solidFill>
          <a:ln w="12700">
            <a:solidFill>
              <a:srgbClr val="F090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400010">
              <a:alpha val="28000"/>
            </a:srgbClr>
          </a:solidFill>
          <a:ln w="12700">
            <a:solidFill>
              <a:srgbClr val="40001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D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17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Lost Cherry — Tom Ford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D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Потерянная вишня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8B0032"/>
          </a:solidFill>
          <a:ln w="12700">
            <a:solidFill>
              <a:srgbClr val="8B00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Сладко-пряная вишня открывается с горьким миндалём. Роза и жасмин добавляют глубину. Тёплая смолистая база с сандалом — чувственная нить через сезоны.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8B0032">
              <a:alpha val="40000"/>
            </a:srgbClr>
          </a:solidFill>
          <a:ln w="12700">
            <a:solidFill>
              <a:srgbClr val="8B00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Чёрная вишня,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горький миндаль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Турецкая роза,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Сандал, бензоин,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перуанский бальзам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8B0032">
              <a:alpha val="12000"/>
            </a:srgbClr>
          </a:solidFill>
          <a:ln w="12700">
            <a:solidFill>
              <a:srgbClr val="8B00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вечер, осень-зима, чувственный подарок, ценители Tom Ford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Cherry Tom Ford стоит $400+. LEVANT — та же красота без переплаты за бренд.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91440"/>
            <a:ext cx="4206240" cy="4892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896112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1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spc="1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21945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78608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мужчин, которые не ищут внимания — и именно поэтому получают его.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 — это минеральная глубина оникса, вечерняя стойкость, подпись без слов. Древесные основы, мускус, смолы и специи — каждый аромат серии является заявлением.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ароматов  ·  Мужская коллекция  ·  NISHE &amp; DESINER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1A5A38">
              <a:alpha val="45000"/>
            </a:srgbClr>
          </a:solidFill>
          <a:ln w="12700">
            <a:solidFill>
              <a:srgbClr val="1A5A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4A8A60">
              <a:alpha val="40000"/>
            </a:srgbClr>
          </a:solidFill>
          <a:ln w="12700">
            <a:solidFill>
              <a:srgbClr val="4A8A6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A0B8A0">
              <a:alpha val="35000"/>
            </a:srgbClr>
          </a:solidFill>
          <a:ln w="12700">
            <a:solidFill>
              <a:srgbClr val="A0B8A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463040"/>
            <a:ext cx="2194560" cy="2194560"/>
          </a:xfrm>
          <a:prstGeom prst="ellipse">
            <a:avLst/>
          </a:prstGeom>
          <a:solidFill>
            <a:srgbClr val="0A3020">
              <a:alpha val="30000"/>
            </a:srgbClr>
          </a:solidFill>
          <a:ln w="12700">
            <a:solidFill>
              <a:srgbClr val="0A3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4A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 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Aventus — Creed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Победа с первого вдоха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4A7B5F"/>
          </a:solidFill>
          <a:ln w="12700">
            <a:solidFill>
              <a:srgbClr val="4A7B5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Культовый аромат для тех, кто знает толк. Ананас и берёза — контраст, ставший легендой. Маскулинный, амбициозный, незабываемый.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4A7B5F">
              <a:alpha val="40000"/>
            </a:srgbClr>
          </a:solidFill>
          <a:ln w="12700">
            <a:solidFill>
              <a:srgbClr val="4A7B5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Ананас, бергамот,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чёрная смородина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Берёза, жасмин,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пачули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Дубовый мох,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мускус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4A7B5F">
              <a:alpha val="12000"/>
            </a:srgbClr>
          </a:solidFill>
          <a:ln w="12700">
            <a:solidFill>
              <a:srgbClr val="4A7B5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деловые встречи, любой повод, мужчина первого впечатления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Дистрибьютор продаёт не аромат, а опыт: покупатель уже знает Aventus и знает, чего хочет.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1A3A5A">
              <a:alpha val="45000"/>
            </a:srgbClr>
          </a:solidFill>
          <a:ln w="12700">
            <a:solidFill>
              <a:srgbClr val="1A3A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4A708A">
              <a:alpha val="40000"/>
            </a:srgbClr>
          </a:solidFill>
          <a:ln w="12700">
            <a:solidFill>
              <a:srgbClr val="4A70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C0D8F0">
              <a:alpha val="35000"/>
            </a:srgbClr>
          </a:solidFill>
          <a:ln w="12700">
            <a:solidFill>
              <a:srgbClr val="C0D8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463040"/>
            <a:ext cx="2194560" cy="2194560"/>
          </a:xfrm>
          <a:prstGeom prst="ellipse">
            <a:avLst/>
          </a:prstGeom>
          <a:solidFill>
            <a:srgbClr val="0A2040">
              <a:alpha val="30000"/>
            </a:srgbClr>
          </a:solidFill>
          <a:ln w="12700">
            <a:solidFill>
              <a:srgbClr val="0A204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 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Invictus — Paco Rabanne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Непобедимый. Не на словах.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506070"/>
          </a:solidFill>
          <a:ln w="12700">
            <a:solidFill>
              <a:srgbClr val="50607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Морская свежесть грейпфрута сочетается с подводными древесными нотами базы. Классический мужской аромат для любого повода. Широкая аудитория.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506070">
              <a:alpha val="40000"/>
            </a:srgbClr>
          </a:solidFill>
          <a:ln w="12700">
            <a:solidFill>
              <a:srgbClr val="50607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Грейпфрут, морской аккорд,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мандарин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Жасмин,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листья лавра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Гваяковое дерево,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мох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506070">
              <a:alpha val="12000"/>
            </a:srgbClr>
          </a:solidFill>
          <a:ln w="12700">
            <a:solidFill>
              <a:srgbClr val="50607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день, спорт, неформальная встреча, молодые мужчины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Известный аромат с широкой аудиторией — легко продать, просто предложить.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0A1A5A">
              <a:alpha val="45000"/>
            </a:srgbClr>
          </a:solidFill>
          <a:ln w="12700">
            <a:solidFill>
              <a:srgbClr val="0A1A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2A4A8A">
              <a:alpha val="45000"/>
            </a:srgbClr>
          </a:solidFill>
          <a:ln w="12700">
            <a:solidFill>
              <a:srgbClr val="2A4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80A0E0">
              <a:alpha val="35000"/>
            </a:srgbClr>
          </a:solidFill>
          <a:ln w="12700">
            <a:solidFill>
              <a:srgbClr val="80A0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463040"/>
            <a:ext cx="2011680" cy="2011680"/>
          </a:xfrm>
          <a:prstGeom prst="ellipse">
            <a:avLst/>
          </a:prstGeom>
          <a:solidFill>
            <a:srgbClr val="E87820">
              <a:alpha val="28000"/>
            </a:srgbClr>
          </a:solidFill>
          <a:ln w="12700">
            <a:solidFill>
              <a:srgbClr val="E878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2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0E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 3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Sauvage — Dior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0E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Дикий. Но не бесконтрольный.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2A4A8A"/>
          </a:solidFill>
          <a:ln w="12700">
            <a:solidFill>
              <a:srgbClr val="2A4A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Калабрийский бергамот и перец — дерзкое открытие. Амброксановая база держит крепко и долго. Один из самых популярных мужских ароматов в мире.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2A4A8A">
              <a:alpha val="40000"/>
            </a:srgbClr>
          </a:solidFill>
          <a:ln w="12700">
            <a:solidFill>
              <a:srgbClr val="2A4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Бергамот, перец,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самшит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Лаванда,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герань, фиалка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Амброксан,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кедр, ветивер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2A4A8A">
              <a:alpha val="12000"/>
            </a:srgbClr>
          </a:solidFill>
          <a:ln w="12700">
            <a:solidFill>
              <a:srgbClr val="2A4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событие, мужчина, ценящий свои ароматы, подарок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известный аромат года в мире — клиент узнаёт его с первой секунды.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2A3A4A">
              <a:alpha val="45000"/>
            </a:srgbClr>
          </a:solidFill>
          <a:ln w="12700">
            <a:solidFill>
              <a:srgbClr val="2A3A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708090">
              <a:alpha val="42000"/>
            </a:srgbClr>
          </a:solidFill>
          <a:ln w="12700">
            <a:solidFill>
              <a:srgbClr val="70809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274320"/>
            <a:ext cx="2011680" cy="2011680"/>
          </a:xfrm>
          <a:prstGeom prst="ellipse">
            <a:avLst/>
          </a:prstGeom>
          <a:solidFill>
            <a:srgbClr val="C0D0E0">
              <a:alpha val="35000"/>
            </a:srgbClr>
          </a:solidFill>
          <a:ln w="12700">
            <a:solidFill>
              <a:srgbClr val="C0D0E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103120" cy="2103120"/>
          </a:xfrm>
          <a:prstGeom prst="ellipse">
            <a:avLst/>
          </a:prstGeom>
          <a:solidFill>
            <a:srgbClr val="8B7A2A">
              <a:alpha val="30000"/>
            </a:srgbClr>
          </a:solidFill>
          <a:ln w="12700">
            <a:solidFill>
              <a:srgbClr val="8B7A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 4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Ganymede — Marc-Antoine Barrois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Минеральная красота далёкой планеты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 и мандарин открывают космичность. Минеральная замша с нотой солёного ветра делает этот аромат уникальным. Притягивает внимание, создаёт тему для разговора.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708090">
              <a:alpha val="40000"/>
            </a:srgbClr>
          </a:solidFill>
          <a:ln w="12700">
            <a:solidFill>
              <a:srgbClr val="70809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итальянский мандарин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Османтус, иммортель,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фиалка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Минерал, замша,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мускус, кедр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708090">
              <a:alpha val="12000"/>
            </a:srgbClr>
          </a:solidFill>
          <a:ln w="12700">
            <a:solidFill>
              <a:srgbClr val="70809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опытный ценитель, любое событие, коллекционер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самых оригинальных ароматов десятилетия — известен знатокам. LEVANT предоставляет этот импульс.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457200"/>
            <a:ext cx="3931920" cy="3931920"/>
          </a:xfrm>
          <a:prstGeom prst="ellipse">
            <a:avLst/>
          </a:prstGeom>
          <a:solidFill>
            <a:srgbClr val="4A2A00">
              <a:alpha val="40000"/>
            </a:srgbClr>
          </a:solidFill>
          <a:ln w="12700">
            <a:solidFill>
              <a:srgbClr val="4A2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457200"/>
            <a:ext cx="2651760" cy="2651760"/>
          </a:xfrm>
          <a:prstGeom prst="ellipse">
            <a:avLst/>
          </a:prstGeom>
          <a:solidFill>
            <a:srgbClr val="8B6914">
              <a:alpha val="45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-182880"/>
            <a:ext cx="2103120" cy="2103120"/>
          </a:xfrm>
          <a:prstGeom prst="ellipse">
            <a:avLst/>
          </a:prstGeom>
          <a:solidFill>
            <a:srgbClr val="D0A840">
              <a:alpha val="32000"/>
            </a:srgbClr>
          </a:solidFill>
          <a:ln w="12700">
            <a:solidFill>
              <a:srgbClr val="D0A84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rgbClr val="1A0A00">
              <a:alpha val="28000"/>
            </a:srgbClr>
          </a:solidFill>
          <a:ln w="12700">
            <a:solidFill>
              <a:srgbClr val="1A0A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38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ОНИКС СЕРИЯ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5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ONYX 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Megamaera — Tiziana Terenzi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Тьма, которая оставляет подпись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304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Глубокий, пряный, ориентальный. Шафран и табак создают напряжённую драматичность. База из амбры и мускуса — шлейф, который слышат издалека.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937760" cy="27432"/>
          </a:xfrm>
          <a:prstGeom prst="rect">
            <a:avLst/>
          </a:prstGeom>
          <a:solidFill>
            <a:srgbClr val="8B6914">
              <a:alpha val="40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НОТЫ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перец,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шафран, бергамот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СЕРДЕЧНЫЕ НОТЫ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Табак, уд,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пачули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4564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НОТЫ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Амбра, мускус,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смола, лабданум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8B6914">
              <a:alpha val="12000"/>
            </a:srgbClr>
          </a:solidFill>
          <a:ln w="12700">
            <a:solidFill>
              <a:srgbClr val="8B69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3982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для: </a:t>
            </a:r>
            <a:pPr indent="0" marL="0">
              <a:buNone/>
            </a:pPr>
            <a:r>
              <a:rPr lang="en-US" sz="1100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вечер, осень-зима, ценитель Tiziana Terenzi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продажи: </a:t>
            </a:r>
            <a:pPr indent="0" marL="0">
              <a:buNone/>
            </a:pPr>
            <a:r>
              <a:rPr lang="en-US" sz="1100" dirty="0">
                <a:solidFill>
                  <a:srgbClr val="F5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Художественный аромат для того, кто точно знает, как должен пахнуть итальянский ниш за разумные деньги.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LEVANT – Оптова Презентація</dc:title>
  <dc:subject>PptxGenJS Presentation</dc:subject>
  <dc:creator>PptxGenJS</dc:creator>
  <cp:lastModifiedBy>PptxGenJS</cp:lastModifiedBy>
  <cp:revision>1</cp:revision>
  <dcterms:created xsi:type="dcterms:W3CDTF">2026-04-18T19:24:21Z</dcterms:created>
  <dcterms:modified xsi:type="dcterms:W3CDTF">2026-04-18T19:24:21Z</dcterms:modified>
</cp:coreProperties>
</file>